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0EE89-D37A-E6F9-47BE-E09603632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B49DF3-7C97-1B4B-4346-7D9B78FDF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168F2A-E113-2223-DDEC-5102A62E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BE3AAD-6457-6A87-387A-AFD0C127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39DE90-A7E1-4B09-2884-ECFE2D31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4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4BF33-3F75-58F7-DE88-50BF3A52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6DD58-4C3A-4EE7-52AB-1D498DC5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997F2-3446-2132-00E1-F6599805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CDDD8-BC9D-8C85-D42A-A2008DDD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B8AD7-8D85-1A74-5507-26EA5CF0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2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10074-D9A7-0977-0F15-A3372403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A8BE8-9E96-7130-BC66-1CE955322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C7AA3-0029-A471-563F-CA3D3A56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49958-1368-53D9-561A-97D87322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79E3D-A436-8681-5B10-012700FA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79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D87E6-4427-126A-2608-FEE29650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15EA8-1A38-E051-75F8-B7D9449CE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5833AF-580E-470D-B760-4732AD6E9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B830F5-A760-64C4-FA3F-F57B669E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7D83AF-66E9-8174-78D8-33E46912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3261B5-3787-F07A-7E3A-A3D11F95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25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553B-2970-2940-1A07-B1363CB8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370007-8480-7E79-FCA7-25FF622BD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046F1B-C362-01E7-143C-4E21D338D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3F903B-A84A-F19F-B9C3-AF3F85306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063DB5-5E7E-E33F-7F64-2970E2839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C63FE9-79CE-381E-78EC-9AB2CAA6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267F69-942E-1343-125C-DCBA069C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D73391-8770-64FD-B9C2-9545FEEC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9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FA46D-B78C-F57B-8544-3918E30F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B6C99-7E75-437B-7B6F-297A91F1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86CCE7-2865-82CB-9976-BFA93DE5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2A24B0-DB61-9CE9-631C-034788E3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11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3738FF-F5DC-D4C2-D4AD-0B1A2009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153CC7-415D-5374-6ECB-6A24D467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2CE2A-5B3E-49AA-CBAB-DD5951F8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8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FCE1F-DF64-10E6-8CBD-1645CC08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1D104-A54D-AFF0-2347-198878979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B0398-913C-22DF-12DB-37D975345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69682-DD9B-8099-159E-FA7C3630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840047-BCF0-5D99-6E51-3E6BBCD4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E69B9C-AB1A-1FA9-9503-3DE3819C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90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0E561-334A-F675-42D8-35E5BA13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418B05-3BEE-D032-D93F-A73085308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DC47EC-4D93-D81A-9A73-CB1665466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423035-1835-63DD-5B8C-8005FDBD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168A8E-3654-062D-01D2-01D825B9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FDE68-5D7F-78CF-ACB1-2D778720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59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C529-8009-D6A7-A28B-A8F83490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F63284-CB8A-9864-3F72-6FF745907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17617-BE61-3716-1A22-1FD944A9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4F9C16-9D8B-C485-8CAE-D5E97F6A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6DF42-E65B-D718-40A0-4C56EBFC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51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F8B142-6A22-47B9-AA74-92BC7688C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A75A26-47E8-4826-C27B-681231905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05142-481F-FC7F-1321-7D6B10EA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F4CE-71D0-0657-5C24-975B7C63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6F7F3-75A0-C64F-7891-B9B059C2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2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853D4F-8299-6E8E-7B6E-92D65CB0A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490AE-4208-5A8A-79A6-56BA84907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18AE66-661C-1153-6D9D-059652D26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E0202-E4FE-465A-BDC2-40ED3029E10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1F30D8-8F64-18A0-E0B6-2D444278F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68D5BD-64F0-BA6E-4A7D-FE447762B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E22E2-DDD9-4F58-A98F-EB2CA98CE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9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92B1FA9-6EF6-2C72-5634-E220B2A33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59405"/>
              </p:ext>
            </p:extLst>
          </p:nvPr>
        </p:nvGraphicFramePr>
        <p:xfrm>
          <a:off x="277568" y="215156"/>
          <a:ext cx="11549116" cy="1214585"/>
        </p:xfrm>
        <a:graphic>
          <a:graphicData uri="http://schemas.openxmlformats.org/drawingml/2006/table">
            <a:tbl>
              <a:tblPr/>
              <a:tblGrid>
                <a:gridCol w="745189">
                  <a:extLst>
                    <a:ext uri="{9D8B030D-6E8A-4147-A177-3AD203B41FA5}">
                      <a16:colId xmlns:a16="http://schemas.microsoft.com/office/drawing/2014/main" val="2542921540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3401762942"/>
                    </a:ext>
                  </a:extLst>
                </a:gridCol>
                <a:gridCol w="745189">
                  <a:extLst>
                    <a:ext uri="{9D8B030D-6E8A-4147-A177-3AD203B41FA5}">
                      <a16:colId xmlns:a16="http://schemas.microsoft.com/office/drawing/2014/main" val="3564270562"/>
                    </a:ext>
                  </a:extLst>
                </a:gridCol>
                <a:gridCol w="1266822">
                  <a:extLst>
                    <a:ext uri="{9D8B030D-6E8A-4147-A177-3AD203B41FA5}">
                      <a16:colId xmlns:a16="http://schemas.microsoft.com/office/drawing/2014/main" val="1424691918"/>
                    </a:ext>
                  </a:extLst>
                </a:gridCol>
                <a:gridCol w="745189">
                  <a:extLst>
                    <a:ext uri="{9D8B030D-6E8A-4147-A177-3AD203B41FA5}">
                      <a16:colId xmlns:a16="http://schemas.microsoft.com/office/drawing/2014/main" val="3170584704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1843764261"/>
                    </a:ext>
                  </a:extLst>
                </a:gridCol>
                <a:gridCol w="782449">
                  <a:extLst>
                    <a:ext uri="{9D8B030D-6E8A-4147-A177-3AD203B41FA5}">
                      <a16:colId xmlns:a16="http://schemas.microsoft.com/office/drawing/2014/main" val="531923486"/>
                    </a:ext>
                  </a:extLst>
                </a:gridCol>
                <a:gridCol w="1266822">
                  <a:extLst>
                    <a:ext uri="{9D8B030D-6E8A-4147-A177-3AD203B41FA5}">
                      <a16:colId xmlns:a16="http://schemas.microsoft.com/office/drawing/2014/main" val="378870798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612671472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4053356854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363240516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168973351"/>
                    </a:ext>
                  </a:extLst>
                </a:gridCol>
              </a:tblGrid>
              <a:tr h="4945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과제년도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36176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기간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과제참여인력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87979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F2E1CEB-432A-113C-F4F8-6903695D5716}"/>
              </a:ext>
            </a:extLst>
          </p:cNvPr>
          <p:cNvSpPr txBox="1"/>
          <p:nvPr/>
        </p:nvSpPr>
        <p:spPr>
          <a:xfrm>
            <a:off x="1196788" y="329456"/>
            <a:ext cx="6380630" cy="27699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ko-KR" sz="1200" dirty="0"/>
              <a:t>{{</a:t>
            </a:r>
            <a:r>
              <a:rPr lang="ko-KR" altLang="en-US" sz="1200" dirty="0"/>
              <a:t>과제명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1B817-25A0-424F-CAAD-A5D974007B78}"/>
              </a:ext>
            </a:extLst>
          </p:cNvPr>
          <p:cNvSpPr txBox="1"/>
          <p:nvPr/>
        </p:nvSpPr>
        <p:spPr>
          <a:xfrm>
            <a:off x="8868330" y="329456"/>
            <a:ext cx="934571" cy="27699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ko-KR" sz="1200" dirty="0"/>
              <a:t>{{</a:t>
            </a:r>
            <a:r>
              <a:rPr lang="ko-KR" altLang="en-US" sz="1200" dirty="0"/>
              <a:t>사업부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F451B-EC44-DE67-4D2A-A0B030E2275F}"/>
              </a:ext>
            </a:extLst>
          </p:cNvPr>
          <p:cNvSpPr txBox="1"/>
          <p:nvPr/>
        </p:nvSpPr>
        <p:spPr>
          <a:xfrm>
            <a:off x="10858499" y="329456"/>
            <a:ext cx="934571" cy="27699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ko-KR" sz="1200" dirty="0"/>
              <a:t>{{</a:t>
            </a:r>
            <a:r>
              <a:rPr lang="ko-KR" altLang="en-US" sz="1200" dirty="0" err="1"/>
              <a:t>과제년도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4E803-763C-05A6-9F94-89C05FC5944B}"/>
              </a:ext>
            </a:extLst>
          </p:cNvPr>
          <p:cNvSpPr txBox="1"/>
          <p:nvPr/>
        </p:nvSpPr>
        <p:spPr>
          <a:xfrm>
            <a:off x="8868329" y="781271"/>
            <a:ext cx="2924741" cy="57688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fontAlgn="ctr">
              <a:buNone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과제참여인력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소속별목록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}}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E5BFA-4A4F-C73A-F435-F4D16FD96524}"/>
              </a:ext>
            </a:extLst>
          </p:cNvPr>
          <p:cNvSpPr txBox="1"/>
          <p:nvPr/>
        </p:nvSpPr>
        <p:spPr>
          <a:xfrm>
            <a:off x="6589059" y="781271"/>
            <a:ext cx="1210235" cy="57688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fontAlgn="ctr">
              <a:buNone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담당부서목록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0E63A-701A-F9A6-FFBE-19D416263C8B}"/>
              </a:ext>
            </a:extLst>
          </p:cNvPr>
          <p:cNvSpPr txBox="1"/>
          <p:nvPr/>
        </p:nvSpPr>
        <p:spPr>
          <a:xfrm>
            <a:off x="4870086" y="781271"/>
            <a:ext cx="831482" cy="57688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fontAlgn="ctr">
              <a:buNone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과제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PL}}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307F0B-E35C-7225-917D-DF68AE5B5772}"/>
              </a:ext>
            </a:extLst>
          </p:cNvPr>
          <p:cNvSpPr txBox="1"/>
          <p:nvPr/>
        </p:nvSpPr>
        <p:spPr>
          <a:xfrm>
            <a:off x="1051120" y="781271"/>
            <a:ext cx="945767" cy="57688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fontAlgn="ctr">
              <a:buNone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프로세스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D2ACD0-2F06-71C7-3AF8-9DC8DE873C1C}"/>
              </a:ext>
            </a:extLst>
          </p:cNvPr>
          <p:cNvSpPr txBox="1"/>
          <p:nvPr/>
        </p:nvSpPr>
        <p:spPr>
          <a:xfrm>
            <a:off x="2825961" y="781271"/>
            <a:ext cx="1156634" cy="57688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fontAlgn="ctr">
              <a:buNone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시작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}}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~{{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종료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}}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872780-6F52-7F97-6FC1-BC2FC3D4DB63}"/>
              </a:ext>
            </a:extLst>
          </p:cNvPr>
          <p:cNvSpPr/>
          <p:nvPr/>
        </p:nvSpPr>
        <p:spPr>
          <a:xfrm>
            <a:off x="277568" y="1499347"/>
            <a:ext cx="5724000" cy="5184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D8D1CE-EBAC-9D4B-DBBF-A48AC144F9A6}"/>
              </a:ext>
            </a:extLst>
          </p:cNvPr>
          <p:cNvSpPr/>
          <p:nvPr/>
        </p:nvSpPr>
        <p:spPr>
          <a:xfrm>
            <a:off x="6102684" y="1499347"/>
            <a:ext cx="5724000" cy="5184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90D9A-4B1E-145E-24A3-082884035784}"/>
              </a:ext>
            </a:extLst>
          </p:cNvPr>
          <p:cNvSpPr txBox="1"/>
          <p:nvPr/>
        </p:nvSpPr>
        <p:spPr>
          <a:xfrm>
            <a:off x="353769" y="1562524"/>
            <a:ext cx="5549155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과제개요</a:t>
            </a:r>
            <a:r>
              <a:rPr lang="en-US" altLang="ko-KR" sz="1200" dirty="0"/>
              <a:t>}}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추진배경</a:t>
            </a:r>
            <a:r>
              <a:rPr lang="en-US" altLang="ko-KR" sz="1200" dirty="0"/>
              <a:t>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085A8-0BC1-60A5-20B5-3E17929C8E31}"/>
              </a:ext>
            </a:extLst>
          </p:cNvPr>
          <p:cNvSpPr txBox="1"/>
          <p:nvPr/>
        </p:nvSpPr>
        <p:spPr>
          <a:xfrm>
            <a:off x="6243915" y="1562524"/>
            <a:ext cx="5549155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상세내용</a:t>
            </a:r>
            <a:r>
              <a:rPr lang="en-US" altLang="ko-KR" sz="1200" dirty="0"/>
              <a:t>}}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향후계획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EDCD17-0744-7673-E2EB-CAF014F69F14}"/>
              </a:ext>
            </a:extLst>
          </p:cNvPr>
          <p:cNvSpPr txBox="1"/>
          <p:nvPr/>
        </p:nvSpPr>
        <p:spPr>
          <a:xfrm>
            <a:off x="353769" y="4415966"/>
            <a:ext cx="5549155" cy="22268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이미지</a:t>
            </a:r>
            <a:r>
              <a:rPr lang="en-US" altLang="ko-KR" sz="1200" dirty="0"/>
              <a:t>_</a:t>
            </a:r>
            <a:r>
              <a:rPr lang="ko-KR" altLang="en-US" sz="1200" dirty="0"/>
              <a:t>개요그림</a:t>
            </a:r>
            <a:r>
              <a:rPr lang="en-US" altLang="ko-KR" sz="1200" dirty="0"/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22FB2-8DB8-FD69-1905-782B1869FDCC}"/>
              </a:ext>
            </a:extLst>
          </p:cNvPr>
          <p:cNvSpPr txBox="1"/>
          <p:nvPr/>
        </p:nvSpPr>
        <p:spPr>
          <a:xfrm>
            <a:off x="2250139" y="2170233"/>
            <a:ext cx="5549155" cy="22268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상세내용</a:t>
            </a:r>
            <a:r>
              <a:rPr lang="en-US" altLang="ko-KR" sz="1200" dirty="0"/>
              <a:t>_</a:t>
            </a:r>
            <a:r>
              <a:rPr lang="ko-KR" altLang="en-US" sz="1200" dirty="0"/>
              <a:t>이미지</a:t>
            </a:r>
            <a:r>
              <a:rPr lang="en-US" altLang="ko-KR" sz="1200" dirty="0"/>
              <a:t>}}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향후계획</a:t>
            </a:r>
            <a:r>
              <a:rPr lang="en-US" altLang="ko-KR" sz="1200" dirty="0"/>
              <a:t>_</a:t>
            </a:r>
            <a:r>
              <a:rPr lang="ko-KR" altLang="en-US" sz="1200" dirty="0"/>
              <a:t>이미지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6A5B4-30BA-CCE0-D19E-E297EC4B67B8}"/>
              </a:ext>
            </a:extLst>
          </p:cNvPr>
          <p:cNvSpPr txBox="1"/>
          <p:nvPr/>
        </p:nvSpPr>
        <p:spPr>
          <a:xfrm>
            <a:off x="6243915" y="4678170"/>
            <a:ext cx="5549155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액션아이템</a:t>
            </a:r>
            <a:r>
              <a:rPr lang="en-US" altLang="ko-KR" sz="1200" dirty="0"/>
              <a:t>_</a:t>
            </a:r>
            <a:r>
              <a:rPr lang="ko-KR" altLang="en-US" sz="1200" dirty="0"/>
              <a:t>마일스톤</a:t>
            </a:r>
            <a:r>
              <a:rPr lang="en-US" altLang="ko-KR" sz="1200" dirty="0"/>
              <a:t>}}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EB1F8-3694-4BBF-5F9F-B7154143A52D}"/>
              </a:ext>
            </a:extLst>
          </p:cNvPr>
          <p:cNvSpPr txBox="1"/>
          <p:nvPr/>
        </p:nvSpPr>
        <p:spPr>
          <a:xfrm>
            <a:off x="3173508" y="2442034"/>
            <a:ext cx="5549155" cy="22268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이미지</a:t>
            </a:r>
            <a:r>
              <a:rPr lang="en-US" altLang="ko-KR" sz="1200" dirty="0"/>
              <a:t>_</a:t>
            </a:r>
            <a:r>
              <a:rPr lang="ko-KR" altLang="en-US" sz="1200" dirty="0"/>
              <a:t>상세내용그림</a:t>
            </a:r>
            <a:r>
              <a:rPr lang="en-US" altLang="ko-KR" sz="1200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64510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4110-DC24-1E89-8452-F622FA77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CBCD8EC-DD31-70D7-580C-5F5254DA1713}"/>
              </a:ext>
            </a:extLst>
          </p:cNvPr>
          <p:cNvGraphicFramePr>
            <a:graphicFrameLocks noGrp="1"/>
          </p:cNvGraphicFramePr>
          <p:nvPr/>
        </p:nvGraphicFramePr>
        <p:xfrm>
          <a:off x="277568" y="215156"/>
          <a:ext cx="11549116" cy="1214585"/>
        </p:xfrm>
        <a:graphic>
          <a:graphicData uri="http://schemas.openxmlformats.org/drawingml/2006/table">
            <a:tbl>
              <a:tblPr/>
              <a:tblGrid>
                <a:gridCol w="745189">
                  <a:extLst>
                    <a:ext uri="{9D8B030D-6E8A-4147-A177-3AD203B41FA5}">
                      <a16:colId xmlns:a16="http://schemas.microsoft.com/office/drawing/2014/main" val="2542921540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3401762942"/>
                    </a:ext>
                  </a:extLst>
                </a:gridCol>
                <a:gridCol w="745189">
                  <a:extLst>
                    <a:ext uri="{9D8B030D-6E8A-4147-A177-3AD203B41FA5}">
                      <a16:colId xmlns:a16="http://schemas.microsoft.com/office/drawing/2014/main" val="3564270562"/>
                    </a:ext>
                  </a:extLst>
                </a:gridCol>
                <a:gridCol w="1266822">
                  <a:extLst>
                    <a:ext uri="{9D8B030D-6E8A-4147-A177-3AD203B41FA5}">
                      <a16:colId xmlns:a16="http://schemas.microsoft.com/office/drawing/2014/main" val="1424691918"/>
                    </a:ext>
                  </a:extLst>
                </a:gridCol>
                <a:gridCol w="745189">
                  <a:extLst>
                    <a:ext uri="{9D8B030D-6E8A-4147-A177-3AD203B41FA5}">
                      <a16:colId xmlns:a16="http://schemas.microsoft.com/office/drawing/2014/main" val="3170584704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1843764261"/>
                    </a:ext>
                  </a:extLst>
                </a:gridCol>
                <a:gridCol w="782449">
                  <a:extLst>
                    <a:ext uri="{9D8B030D-6E8A-4147-A177-3AD203B41FA5}">
                      <a16:colId xmlns:a16="http://schemas.microsoft.com/office/drawing/2014/main" val="531923486"/>
                    </a:ext>
                  </a:extLst>
                </a:gridCol>
                <a:gridCol w="1266822">
                  <a:extLst>
                    <a:ext uri="{9D8B030D-6E8A-4147-A177-3AD203B41FA5}">
                      <a16:colId xmlns:a16="http://schemas.microsoft.com/office/drawing/2014/main" val="378870798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612671472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4053356854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363240516"/>
                    </a:ext>
                  </a:extLst>
                </a:gridCol>
                <a:gridCol w="999576">
                  <a:extLst>
                    <a:ext uri="{9D8B030D-6E8A-4147-A177-3AD203B41FA5}">
                      <a16:colId xmlns:a16="http://schemas.microsoft.com/office/drawing/2014/main" val="2168973351"/>
                    </a:ext>
                  </a:extLst>
                </a:gridCol>
              </a:tblGrid>
              <a:tr h="4945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과제년도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36176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기간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과제참여인력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8797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2B9D3E-36A2-4B9E-7F34-4FBC3D240D0F}"/>
              </a:ext>
            </a:extLst>
          </p:cNvPr>
          <p:cNvSpPr txBox="1"/>
          <p:nvPr/>
        </p:nvSpPr>
        <p:spPr>
          <a:xfrm>
            <a:off x="353769" y="1562524"/>
            <a:ext cx="5549155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{{</a:t>
            </a:r>
            <a:r>
              <a:rPr lang="ko-KR" altLang="en-US" sz="1200" dirty="0"/>
              <a:t>상세정보</a:t>
            </a:r>
            <a:r>
              <a:rPr lang="en-US" altLang="ko-KR" sz="1200" dirty="0"/>
              <a:t>_</a:t>
            </a:r>
            <a:r>
              <a:rPr lang="ko-KR" altLang="en-US" sz="1200" dirty="0"/>
              <a:t>성과</a:t>
            </a:r>
            <a:r>
              <a:rPr lang="en-US" altLang="ko-KR" sz="12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78059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106</Words>
  <Application>Microsoft Office PowerPoint</Application>
  <PresentationFormat>와이드스크린</PresentationFormat>
  <Paragraphs>34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용진 박</dc:creator>
  <cp:lastModifiedBy>용진 박</cp:lastModifiedBy>
  <cp:revision>31</cp:revision>
  <dcterms:created xsi:type="dcterms:W3CDTF">2026-03-17T14:17:04Z</dcterms:created>
  <dcterms:modified xsi:type="dcterms:W3CDTF">2026-03-18T11:51:57Z</dcterms:modified>
</cp:coreProperties>
</file>